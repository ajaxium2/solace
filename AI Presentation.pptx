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Barlow" panose="00000500000000000000" pitchFamily="2" charset="0"/>
      <p:regular r:id="rId9"/>
    </p:embeddedFont>
    <p:embeddedFont>
      <p:font typeface="Barlow Bold" panose="020B0604020202020204" charset="0"/>
      <p:regular r:id="rId10"/>
    </p:embeddedFont>
    <p:embeddedFont>
      <p:font typeface="Canva Sans" panose="020B0604020202020204" charset="0"/>
      <p:regular r:id="rId11"/>
    </p:embeddedFont>
    <p:embeddedFont>
      <p:font typeface="Playpen Sa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11"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6456" r="-21545" b="-17777"/>
            </a:stretch>
          </a:blipFill>
        </p:spPr>
        <p:txBody>
          <a:bodyPr/>
          <a:lstStyle/>
          <a:p>
            <a:endParaRPr lang="en-US"/>
          </a:p>
        </p:txBody>
      </p:sp>
      <p:sp>
        <p:nvSpPr>
          <p:cNvPr id="3" name="TextBox 3"/>
          <p:cNvSpPr txBox="1"/>
          <p:nvPr/>
        </p:nvSpPr>
        <p:spPr>
          <a:xfrm>
            <a:off x="393217" y="5729854"/>
            <a:ext cx="12248087" cy="2562225"/>
          </a:xfrm>
          <a:prstGeom prst="rect">
            <a:avLst/>
          </a:prstGeom>
        </p:spPr>
        <p:txBody>
          <a:bodyPr lIns="0" tIns="0" rIns="0" bIns="0" rtlCol="0" anchor="t">
            <a:spAutoFit/>
          </a:bodyPr>
          <a:lstStyle/>
          <a:p>
            <a:pPr marL="0" lvl="0" indent="0" algn="l">
              <a:lnSpc>
                <a:spcPts val="9900"/>
              </a:lnSpc>
            </a:pPr>
            <a:r>
              <a:rPr lang="en-US" sz="9000" b="1" dirty="0">
                <a:solidFill>
                  <a:srgbClr val="FFFFFF"/>
                </a:solidFill>
                <a:latin typeface="Barlow Bold"/>
                <a:ea typeface="Barlow Bold"/>
                <a:cs typeface="Barlow Bold"/>
                <a:sym typeface="Barlow Bold"/>
              </a:rPr>
              <a:t>EMOTIONAL SUPPORT AI APPLICATION</a:t>
            </a:r>
          </a:p>
        </p:txBody>
      </p:sp>
      <p:sp>
        <p:nvSpPr>
          <p:cNvPr id="4" name="TextBox 4"/>
          <p:cNvSpPr txBox="1"/>
          <p:nvPr/>
        </p:nvSpPr>
        <p:spPr>
          <a:xfrm>
            <a:off x="364642" y="8566425"/>
            <a:ext cx="10254644" cy="691875"/>
          </a:xfrm>
          <a:prstGeom prst="rect">
            <a:avLst/>
          </a:prstGeom>
        </p:spPr>
        <p:txBody>
          <a:bodyPr lIns="0" tIns="0" rIns="0" bIns="0" rtlCol="0" anchor="t">
            <a:spAutoFit/>
          </a:bodyPr>
          <a:lstStyle/>
          <a:p>
            <a:pPr algn="l">
              <a:lnSpc>
                <a:spcPts val="2815"/>
              </a:lnSpc>
            </a:pPr>
            <a:r>
              <a:rPr lang="en-US" sz="2010" spc="8">
                <a:solidFill>
                  <a:srgbClr val="FFFFFF"/>
                </a:solidFill>
                <a:latin typeface="Barlow"/>
                <a:ea typeface="Barlow"/>
                <a:cs typeface="Barlow"/>
                <a:sym typeface="Barlow"/>
              </a:rPr>
              <a:t>✨ Realized by Houssam LAQSIR, Aymane MAIZI, Mohamed SANBI, Kodjo Robert EZIAN ✨</a:t>
            </a:r>
          </a:p>
          <a:p>
            <a:pPr marL="0" lvl="0" indent="0" algn="l">
              <a:lnSpc>
                <a:spcPts val="2815"/>
              </a:lnSpc>
              <a:spcBef>
                <a:spcPct val="0"/>
              </a:spcBef>
            </a:pPr>
            <a:endParaRPr lang="en-US" sz="2010" spc="8">
              <a:solidFill>
                <a:srgbClr val="FFFFFF"/>
              </a:solidFill>
              <a:latin typeface="Barlow"/>
              <a:ea typeface="Barlow"/>
              <a:cs typeface="Barlow"/>
              <a:sym typeface="Barlow"/>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181" t="-7978" b="-150814"/>
            </a:stretch>
          </a:blipFill>
        </p:spPr>
        <p:txBody>
          <a:bodyPr/>
          <a:lstStyle/>
          <a:p>
            <a:endParaRPr lang="en-US"/>
          </a:p>
        </p:txBody>
      </p:sp>
      <p:sp>
        <p:nvSpPr>
          <p:cNvPr id="3" name="Freeform 3"/>
          <p:cNvSpPr/>
          <p:nvPr/>
        </p:nvSpPr>
        <p:spPr>
          <a:xfrm>
            <a:off x="1028700" y="1490538"/>
            <a:ext cx="9124950" cy="7305924"/>
          </a:xfrm>
          <a:custGeom>
            <a:avLst/>
            <a:gdLst/>
            <a:ahLst/>
            <a:cxnLst/>
            <a:rect l="l" t="t" r="r" b="b"/>
            <a:pathLst>
              <a:path w="9124950" h="7305924">
                <a:moveTo>
                  <a:pt x="0" y="0"/>
                </a:moveTo>
                <a:lnTo>
                  <a:pt x="9124950" y="0"/>
                </a:lnTo>
                <a:lnTo>
                  <a:pt x="9124950" y="7305924"/>
                </a:lnTo>
                <a:lnTo>
                  <a:pt x="0" y="7305924"/>
                </a:lnTo>
                <a:lnTo>
                  <a:pt x="0" y="0"/>
                </a:lnTo>
                <a:close/>
              </a:path>
            </a:pathLst>
          </a:custGeom>
          <a:blipFill>
            <a:blip r:embed="rId3"/>
            <a:stretch>
              <a:fillRect/>
            </a:stretch>
          </a:blipFill>
        </p:spPr>
        <p:txBody>
          <a:bodyPr/>
          <a:lstStyle/>
          <a:p>
            <a:endParaRPr lang="en-US"/>
          </a:p>
        </p:txBody>
      </p:sp>
      <p:sp>
        <p:nvSpPr>
          <p:cNvPr id="4" name="Freeform 4"/>
          <p:cNvSpPr/>
          <p:nvPr/>
        </p:nvSpPr>
        <p:spPr>
          <a:xfrm>
            <a:off x="13991907" y="6892080"/>
            <a:ext cx="7344918" cy="8229600"/>
          </a:xfrm>
          <a:custGeom>
            <a:avLst/>
            <a:gdLst/>
            <a:ahLst/>
            <a:cxnLst/>
            <a:rect l="l" t="t" r="r" b="b"/>
            <a:pathLst>
              <a:path w="7344918" h="8229600">
                <a:moveTo>
                  <a:pt x="0" y="0"/>
                </a:moveTo>
                <a:lnTo>
                  <a:pt x="7344918" y="0"/>
                </a:lnTo>
                <a:lnTo>
                  <a:pt x="7344918" y="8229600"/>
                </a:lnTo>
                <a:lnTo>
                  <a:pt x="0" y="8229600"/>
                </a:lnTo>
                <a:lnTo>
                  <a:pt x="0" y="0"/>
                </a:lnTo>
                <a:close/>
              </a:path>
            </a:pathLst>
          </a:custGeom>
          <a:blipFill>
            <a:blip r:embed="rId4"/>
            <a:stretch>
              <a:fillRect/>
            </a:stretch>
          </a:blipFill>
        </p:spPr>
        <p:txBody>
          <a:bodyPr/>
          <a:lstStyle/>
          <a:p>
            <a:endParaRPr lang="en-US"/>
          </a:p>
        </p:txBody>
      </p:sp>
      <p:sp>
        <p:nvSpPr>
          <p:cNvPr id="5" name="Freeform 5"/>
          <p:cNvSpPr/>
          <p:nvPr/>
        </p:nvSpPr>
        <p:spPr>
          <a:xfrm>
            <a:off x="-2488493" y="-5195250"/>
            <a:ext cx="7034386" cy="8229600"/>
          </a:xfrm>
          <a:custGeom>
            <a:avLst/>
            <a:gdLst/>
            <a:ahLst/>
            <a:cxnLst/>
            <a:rect l="l" t="t" r="r" b="b"/>
            <a:pathLst>
              <a:path w="7034386" h="8229600">
                <a:moveTo>
                  <a:pt x="0" y="0"/>
                </a:moveTo>
                <a:lnTo>
                  <a:pt x="7034386" y="0"/>
                </a:lnTo>
                <a:lnTo>
                  <a:pt x="7034386" y="8229600"/>
                </a:lnTo>
                <a:lnTo>
                  <a:pt x="0" y="822960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0724514" y="3024825"/>
            <a:ext cx="6534786" cy="962025"/>
          </a:xfrm>
          <a:prstGeom prst="rect">
            <a:avLst/>
          </a:prstGeom>
        </p:spPr>
        <p:txBody>
          <a:bodyPr lIns="0" tIns="0" rIns="0" bIns="0" rtlCol="0" anchor="t">
            <a:spAutoFit/>
          </a:bodyPr>
          <a:lstStyle/>
          <a:p>
            <a:pPr marL="0" lvl="0" indent="0" algn="l">
              <a:lnSpc>
                <a:spcPts val="7535"/>
              </a:lnSpc>
            </a:pPr>
            <a:r>
              <a:rPr lang="en-US" sz="6279" b="1">
                <a:solidFill>
                  <a:srgbClr val="FFFFFF"/>
                </a:solidFill>
                <a:latin typeface="Barlow Bold"/>
                <a:ea typeface="Barlow Bold"/>
                <a:cs typeface="Barlow Bold"/>
                <a:sym typeface="Barlow Bold"/>
              </a:rPr>
              <a:t>Introduction</a:t>
            </a:r>
          </a:p>
        </p:txBody>
      </p:sp>
      <p:sp>
        <p:nvSpPr>
          <p:cNvPr id="7" name="TextBox 7"/>
          <p:cNvSpPr txBox="1"/>
          <p:nvPr/>
        </p:nvSpPr>
        <p:spPr>
          <a:xfrm>
            <a:off x="10724514" y="4418005"/>
            <a:ext cx="7182486" cy="3947876"/>
          </a:xfrm>
          <a:prstGeom prst="rect">
            <a:avLst/>
          </a:prstGeom>
        </p:spPr>
        <p:txBody>
          <a:bodyPr wrap="square" lIns="0" tIns="0" rIns="0" bIns="0" rtlCol="0" anchor="t">
            <a:spAutoFit/>
          </a:bodyPr>
          <a:lstStyle/>
          <a:p>
            <a:pPr algn="l">
              <a:lnSpc>
                <a:spcPts val="3919"/>
              </a:lnSpc>
            </a:pPr>
            <a:r>
              <a:rPr lang="en-US" sz="2799" spc="11" dirty="0">
                <a:solidFill>
                  <a:srgbClr val="FFFFFF"/>
                </a:solidFill>
                <a:latin typeface="Barlow"/>
                <a:ea typeface="Barlow"/>
                <a:cs typeface="Barlow"/>
                <a:sym typeface="Barlow"/>
              </a:rPr>
              <a:t>Many individuals face challenges in finding accessible, personalized, and empathetic emotional support tools. This project addresses these gaps by creating an AI-driven application that provides </a:t>
            </a:r>
            <a:r>
              <a:rPr lang="en-US" sz="2799" spc="11">
                <a:solidFill>
                  <a:srgbClr val="FFFFFF"/>
                </a:solidFill>
                <a:latin typeface="Barlow"/>
                <a:ea typeface="Barlow"/>
                <a:cs typeface="Barlow"/>
                <a:sym typeface="Barlow"/>
              </a:rPr>
              <a:t>users with emotional </a:t>
            </a:r>
            <a:r>
              <a:rPr lang="en-US" sz="2799" spc="11" dirty="0">
                <a:solidFill>
                  <a:srgbClr val="FFFFFF"/>
                </a:solidFill>
                <a:latin typeface="Barlow"/>
                <a:ea typeface="Barlow"/>
                <a:cs typeface="Barlow"/>
                <a:sym typeface="Barlow"/>
              </a:rPr>
              <a:t>support, combining advanced technologies to ensure an intuitive and accessible experience.</a:t>
            </a:r>
          </a:p>
          <a:p>
            <a:pPr algn="l">
              <a:lnSpc>
                <a:spcPts val="3919"/>
              </a:lnSpc>
            </a:pPr>
            <a:endParaRPr lang="en-US" sz="2799" spc="11" dirty="0">
              <a:solidFill>
                <a:srgbClr val="FFFFFF"/>
              </a:solidFill>
              <a:latin typeface="Barlow"/>
              <a:ea typeface="Barlow"/>
              <a:cs typeface="Barlow"/>
              <a:sym typeface="Barlow"/>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181" t="-7978" b="-150814"/>
            </a:stretch>
          </a:blipFill>
        </p:spPr>
        <p:txBody>
          <a:bodyPr/>
          <a:lstStyle/>
          <a:p>
            <a:endParaRPr lang="en-US"/>
          </a:p>
        </p:txBody>
      </p:sp>
      <p:sp>
        <p:nvSpPr>
          <p:cNvPr id="3" name="AutoShape 3"/>
          <p:cNvSpPr/>
          <p:nvPr/>
        </p:nvSpPr>
        <p:spPr>
          <a:xfrm flipV="1">
            <a:off x="4805160" y="4859651"/>
            <a:ext cx="2687309" cy="0"/>
          </a:xfrm>
          <a:prstGeom prst="line">
            <a:avLst/>
          </a:prstGeom>
          <a:ln w="38100" cap="flat">
            <a:solidFill>
              <a:srgbClr val="FFFFFF"/>
            </a:solidFill>
            <a:prstDash val="solid"/>
            <a:headEnd type="none" w="sm" len="sm"/>
            <a:tailEnd type="arrow" w="med" len="sm"/>
          </a:ln>
        </p:spPr>
        <p:txBody>
          <a:bodyPr/>
          <a:lstStyle/>
          <a:p>
            <a:endParaRPr lang="en-US"/>
          </a:p>
        </p:txBody>
      </p:sp>
      <p:sp>
        <p:nvSpPr>
          <p:cNvPr id="4" name="AutoShape 4"/>
          <p:cNvSpPr/>
          <p:nvPr/>
        </p:nvSpPr>
        <p:spPr>
          <a:xfrm>
            <a:off x="10562086" y="4669730"/>
            <a:ext cx="2691601" cy="0"/>
          </a:xfrm>
          <a:prstGeom prst="line">
            <a:avLst/>
          </a:prstGeom>
          <a:ln w="38100" cap="flat">
            <a:solidFill>
              <a:srgbClr val="FFFFFF"/>
            </a:solidFill>
            <a:prstDash val="solid"/>
            <a:headEnd type="none" w="sm" len="sm"/>
            <a:tailEnd type="arrow" w="med" len="sm"/>
          </a:ln>
        </p:spPr>
        <p:txBody>
          <a:bodyPr/>
          <a:lstStyle/>
          <a:p>
            <a:endParaRPr lang="en-US"/>
          </a:p>
        </p:txBody>
      </p:sp>
      <p:sp>
        <p:nvSpPr>
          <p:cNvPr id="5" name="Freeform 5"/>
          <p:cNvSpPr/>
          <p:nvPr/>
        </p:nvSpPr>
        <p:spPr>
          <a:xfrm>
            <a:off x="7262686" y="2842186"/>
            <a:ext cx="3740916" cy="3292006"/>
          </a:xfrm>
          <a:custGeom>
            <a:avLst/>
            <a:gdLst/>
            <a:ahLst/>
            <a:cxnLst/>
            <a:rect l="l" t="t" r="r" b="b"/>
            <a:pathLst>
              <a:path w="3740916" h="3292006">
                <a:moveTo>
                  <a:pt x="0" y="0"/>
                </a:moveTo>
                <a:lnTo>
                  <a:pt x="3740916" y="0"/>
                </a:lnTo>
                <a:lnTo>
                  <a:pt x="3740916" y="3292007"/>
                </a:lnTo>
                <a:lnTo>
                  <a:pt x="0" y="3292007"/>
                </a:lnTo>
                <a:lnTo>
                  <a:pt x="0" y="0"/>
                </a:lnTo>
                <a:close/>
              </a:path>
            </a:pathLst>
          </a:custGeom>
          <a:blipFill>
            <a:blip r:embed="rId3"/>
            <a:stretch>
              <a:fillRect/>
            </a:stretch>
          </a:blipFill>
        </p:spPr>
        <p:txBody>
          <a:bodyPr/>
          <a:lstStyle/>
          <a:p>
            <a:endParaRPr lang="en-US"/>
          </a:p>
        </p:txBody>
      </p:sp>
      <p:sp>
        <p:nvSpPr>
          <p:cNvPr id="6" name="Freeform 6"/>
          <p:cNvSpPr/>
          <p:nvPr/>
        </p:nvSpPr>
        <p:spPr>
          <a:xfrm>
            <a:off x="13358462" y="2645425"/>
            <a:ext cx="3253660" cy="3270010"/>
          </a:xfrm>
          <a:custGeom>
            <a:avLst/>
            <a:gdLst/>
            <a:ahLst/>
            <a:cxnLst/>
            <a:rect l="l" t="t" r="r" b="b"/>
            <a:pathLst>
              <a:path w="3253660" h="3270010">
                <a:moveTo>
                  <a:pt x="0" y="0"/>
                </a:moveTo>
                <a:lnTo>
                  <a:pt x="3253660" y="0"/>
                </a:lnTo>
                <a:lnTo>
                  <a:pt x="3253660" y="3270010"/>
                </a:lnTo>
                <a:lnTo>
                  <a:pt x="0" y="3270010"/>
                </a:lnTo>
                <a:lnTo>
                  <a:pt x="0" y="0"/>
                </a:lnTo>
                <a:close/>
              </a:path>
            </a:pathLst>
          </a:custGeom>
          <a:blipFill>
            <a:blip r:embed="rId4"/>
            <a:stretch>
              <a:fillRect/>
            </a:stretch>
          </a:blipFill>
        </p:spPr>
        <p:txBody>
          <a:bodyPr/>
          <a:lstStyle/>
          <a:p>
            <a:endParaRPr lang="en-US"/>
          </a:p>
        </p:txBody>
      </p:sp>
      <p:sp>
        <p:nvSpPr>
          <p:cNvPr id="7" name="Freeform 7"/>
          <p:cNvSpPr/>
          <p:nvPr/>
        </p:nvSpPr>
        <p:spPr>
          <a:xfrm>
            <a:off x="8621963" y="6692662"/>
            <a:ext cx="923444" cy="863421"/>
          </a:xfrm>
          <a:custGeom>
            <a:avLst/>
            <a:gdLst/>
            <a:ahLst/>
            <a:cxnLst/>
            <a:rect l="l" t="t" r="r" b="b"/>
            <a:pathLst>
              <a:path w="923444" h="863421">
                <a:moveTo>
                  <a:pt x="0" y="0"/>
                </a:moveTo>
                <a:lnTo>
                  <a:pt x="923444" y="0"/>
                </a:lnTo>
                <a:lnTo>
                  <a:pt x="923444" y="863421"/>
                </a:lnTo>
                <a:lnTo>
                  <a:pt x="0" y="863421"/>
                </a:lnTo>
                <a:lnTo>
                  <a:pt x="0" y="0"/>
                </a:lnTo>
                <a:close/>
              </a:path>
            </a:pathLst>
          </a:custGeom>
          <a:blipFill>
            <a:blip r:embed="rId5"/>
            <a:stretch>
              <a:fillRect/>
            </a:stretch>
          </a:blipFill>
        </p:spPr>
        <p:txBody>
          <a:bodyPr/>
          <a:lstStyle/>
          <a:p>
            <a:endParaRPr lang="en-US"/>
          </a:p>
        </p:txBody>
      </p:sp>
      <p:sp>
        <p:nvSpPr>
          <p:cNvPr id="8" name="Freeform 8"/>
          <p:cNvSpPr/>
          <p:nvPr/>
        </p:nvSpPr>
        <p:spPr>
          <a:xfrm>
            <a:off x="388282" y="3714394"/>
            <a:ext cx="4312103" cy="2457899"/>
          </a:xfrm>
          <a:custGeom>
            <a:avLst/>
            <a:gdLst/>
            <a:ahLst/>
            <a:cxnLst/>
            <a:rect l="l" t="t" r="r" b="b"/>
            <a:pathLst>
              <a:path w="4312103" h="2457899">
                <a:moveTo>
                  <a:pt x="0" y="0"/>
                </a:moveTo>
                <a:lnTo>
                  <a:pt x="4312103" y="0"/>
                </a:lnTo>
                <a:lnTo>
                  <a:pt x="4312103" y="2457899"/>
                </a:lnTo>
                <a:lnTo>
                  <a:pt x="0" y="2457899"/>
                </a:lnTo>
                <a:lnTo>
                  <a:pt x="0" y="0"/>
                </a:lnTo>
                <a:close/>
              </a:path>
            </a:pathLst>
          </a:custGeom>
          <a:blipFill>
            <a:blip r:embed="rId6"/>
            <a:stretch>
              <a:fillRect/>
            </a:stretch>
          </a:blipFill>
        </p:spPr>
        <p:txBody>
          <a:bodyPr/>
          <a:lstStyle/>
          <a:p>
            <a:endParaRPr lang="en-US"/>
          </a:p>
        </p:txBody>
      </p:sp>
      <p:sp>
        <p:nvSpPr>
          <p:cNvPr id="9" name="Freeform 9"/>
          <p:cNvSpPr/>
          <p:nvPr/>
        </p:nvSpPr>
        <p:spPr>
          <a:xfrm>
            <a:off x="16776552" y="3231646"/>
            <a:ext cx="965496" cy="965496"/>
          </a:xfrm>
          <a:custGeom>
            <a:avLst/>
            <a:gdLst/>
            <a:ahLst/>
            <a:cxnLst/>
            <a:rect l="l" t="t" r="r" b="b"/>
            <a:pathLst>
              <a:path w="965496" h="965496">
                <a:moveTo>
                  <a:pt x="0" y="0"/>
                </a:moveTo>
                <a:lnTo>
                  <a:pt x="965496" y="0"/>
                </a:lnTo>
                <a:lnTo>
                  <a:pt x="965496" y="965496"/>
                </a:lnTo>
                <a:lnTo>
                  <a:pt x="0" y="965496"/>
                </a:lnTo>
                <a:lnTo>
                  <a:pt x="0" y="0"/>
                </a:lnTo>
                <a:close/>
              </a:path>
            </a:pathLst>
          </a:custGeom>
          <a:blipFill>
            <a:blip r:embed="rId7"/>
            <a:stretch>
              <a:fillRect/>
            </a:stretch>
          </a:blipFill>
        </p:spPr>
        <p:txBody>
          <a:bodyPr/>
          <a:lstStyle/>
          <a:p>
            <a:endParaRPr lang="en-US"/>
          </a:p>
        </p:txBody>
      </p:sp>
      <p:sp>
        <p:nvSpPr>
          <p:cNvPr id="10" name="AutoShape 10"/>
          <p:cNvSpPr/>
          <p:nvPr/>
        </p:nvSpPr>
        <p:spPr>
          <a:xfrm flipH="1">
            <a:off x="10562086" y="5012051"/>
            <a:ext cx="2691601" cy="0"/>
          </a:xfrm>
          <a:prstGeom prst="line">
            <a:avLst/>
          </a:prstGeom>
          <a:ln w="38100" cap="flat">
            <a:solidFill>
              <a:srgbClr val="FFFFFF"/>
            </a:solidFill>
            <a:prstDash val="solid"/>
            <a:headEnd type="none" w="sm" len="sm"/>
            <a:tailEnd type="arrow" w="med" len="sm"/>
          </a:ln>
        </p:spPr>
        <p:txBody>
          <a:bodyPr/>
          <a:lstStyle/>
          <a:p>
            <a:endParaRPr lang="en-US"/>
          </a:p>
        </p:txBody>
      </p:sp>
      <p:sp>
        <p:nvSpPr>
          <p:cNvPr id="11" name="Freeform 11"/>
          <p:cNvSpPr/>
          <p:nvPr/>
        </p:nvSpPr>
        <p:spPr>
          <a:xfrm>
            <a:off x="16779806" y="5012051"/>
            <a:ext cx="962242" cy="997142"/>
          </a:xfrm>
          <a:custGeom>
            <a:avLst/>
            <a:gdLst/>
            <a:ahLst/>
            <a:cxnLst/>
            <a:rect l="l" t="t" r="r" b="b"/>
            <a:pathLst>
              <a:path w="962242" h="997142">
                <a:moveTo>
                  <a:pt x="0" y="0"/>
                </a:moveTo>
                <a:lnTo>
                  <a:pt x="962242" y="0"/>
                </a:lnTo>
                <a:lnTo>
                  <a:pt x="962242" y="997142"/>
                </a:lnTo>
                <a:lnTo>
                  <a:pt x="0" y="997142"/>
                </a:lnTo>
                <a:lnTo>
                  <a:pt x="0" y="0"/>
                </a:lnTo>
                <a:close/>
              </a:path>
            </a:pathLst>
          </a:custGeom>
          <a:blipFill>
            <a:blip r:embed="rId8"/>
            <a:stretch>
              <a:fillRect/>
            </a:stretch>
          </a:blipFill>
        </p:spPr>
        <p:txBody>
          <a:bodyPr/>
          <a:lstStyle/>
          <a:p>
            <a:endParaRPr lang="en-US"/>
          </a:p>
        </p:txBody>
      </p:sp>
      <p:sp>
        <p:nvSpPr>
          <p:cNvPr id="12" name="TextBox 12"/>
          <p:cNvSpPr txBox="1"/>
          <p:nvPr/>
        </p:nvSpPr>
        <p:spPr>
          <a:xfrm>
            <a:off x="395071" y="4260937"/>
            <a:ext cx="4305314" cy="580390"/>
          </a:xfrm>
          <a:prstGeom prst="rect">
            <a:avLst/>
          </a:prstGeom>
        </p:spPr>
        <p:txBody>
          <a:bodyPr lIns="0" tIns="0" rIns="0" bIns="0" rtlCol="0" anchor="t">
            <a:spAutoFit/>
          </a:bodyPr>
          <a:lstStyle/>
          <a:p>
            <a:pPr algn="ctr">
              <a:lnSpc>
                <a:spcPts val="4759"/>
              </a:lnSpc>
              <a:spcBef>
                <a:spcPct val="0"/>
              </a:spcBef>
            </a:pPr>
            <a:r>
              <a:rPr lang="en-US" sz="3399">
                <a:solidFill>
                  <a:srgbClr val="000000"/>
                </a:solidFill>
                <a:latin typeface="Canva Sans"/>
                <a:ea typeface="Canva Sans"/>
                <a:cs typeface="Canva Sans"/>
                <a:sym typeface="Canva Sans"/>
              </a:rPr>
              <a:t>Query</a:t>
            </a:r>
          </a:p>
        </p:txBody>
      </p:sp>
      <p:sp>
        <p:nvSpPr>
          <p:cNvPr id="13" name="TextBox 13"/>
          <p:cNvSpPr txBox="1"/>
          <p:nvPr/>
        </p:nvSpPr>
        <p:spPr>
          <a:xfrm>
            <a:off x="9008493" y="5553803"/>
            <a:ext cx="1030435"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Canva Sans"/>
                <a:ea typeface="Canva Sans"/>
                <a:cs typeface="Canva Sans"/>
                <a:sym typeface="Canva Sans"/>
              </a:rPr>
              <a:t>GUI</a:t>
            </a:r>
          </a:p>
        </p:txBody>
      </p:sp>
      <p:sp>
        <p:nvSpPr>
          <p:cNvPr id="14" name="TextBox 14"/>
          <p:cNvSpPr txBox="1"/>
          <p:nvPr/>
        </p:nvSpPr>
        <p:spPr>
          <a:xfrm>
            <a:off x="8643660" y="7498933"/>
            <a:ext cx="880050" cy="436824"/>
          </a:xfrm>
          <a:prstGeom prst="rect">
            <a:avLst/>
          </a:prstGeom>
        </p:spPr>
        <p:txBody>
          <a:bodyPr lIns="0" tIns="0" rIns="0" bIns="0" rtlCol="0" anchor="t">
            <a:spAutoFit/>
          </a:bodyPr>
          <a:lstStyle/>
          <a:p>
            <a:pPr algn="ctr">
              <a:lnSpc>
                <a:spcPts val="3517"/>
              </a:lnSpc>
              <a:spcBef>
                <a:spcPct val="0"/>
              </a:spcBef>
            </a:pPr>
            <a:r>
              <a:rPr lang="en-US" sz="2512">
                <a:solidFill>
                  <a:srgbClr val="FFFFFF"/>
                </a:solidFill>
                <a:latin typeface="Canva Sans"/>
                <a:ea typeface="Canva Sans"/>
                <a:cs typeface="Canva Sans"/>
                <a:sym typeface="Canva Sans"/>
              </a:rPr>
              <a:t>React</a:t>
            </a:r>
          </a:p>
        </p:txBody>
      </p:sp>
      <p:sp>
        <p:nvSpPr>
          <p:cNvPr id="15" name="TextBox 15"/>
          <p:cNvSpPr txBox="1"/>
          <p:nvPr/>
        </p:nvSpPr>
        <p:spPr>
          <a:xfrm>
            <a:off x="13193523" y="5848760"/>
            <a:ext cx="3233507" cy="580390"/>
          </a:xfrm>
          <a:prstGeom prst="rect">
            <a:avLst/>
          </a:prstGeom>
        </p:spPr>
        <p:txBody>
          <a:bodyPr lIns="0" tIns="0" rIns="0" bIns="0" rtlCol="0" anchor="t">
            <a:spAutoFit/>
          </a:bodyPr>
          <a:lstStyle/>
          <a:p>
            <a:pPr algn="ctr">
              <a:lnSpc>
                <a:spcPts val="4759"/>
              </a:lnSpc>
              <a:spcBef>
                <a:spcPct val="0"/>
              </a:spcBef>
            </a:pPr>
            <a:r>
              <a:rPr lang="en-US" sz="3399">
                <a:solidFill>
                  <a:srgbClr val="FFFFFF"/>
                </a:solidFill>
                <a:latin typeface="Canva Sans"/>
                <a:ea typeface="Canva Sans"/>
                <a:cs typeface="Canva Sans"/>
                <a:sym typeface="Canva Sans"/>
              </a:rPr>
              <a:t>Backend</a:t>
            </a:r>
          </a:p>
        </p:txBody>
      </p:sp>
      <p:sp>
        <p:nvSpPr>
          <p:cNvPr id="16" name="TextBox 16"/>
          <p:cNvSpPr txBox="1"/>
          <p:nvPr/>
        </p:nvSpPr>
        <p:spPr>
          <a:xfrm>
            <a:off x="16581495" y="4242330"/>
            <a:ext cx="1358864" cy="408350"/>
          </a:xfrm>
          <a:prstGeom prst="rect">
            <a:avLst/>
          </a:prstGeom>
        </p:spPr>
        <p:txBody>
          <a:bodyPr lIns="0" tIns="0" rIns="0" bIns="0" rtlCol="0" anchor="t">
            <a:spAutoFit/>
          </a:bodyPr>
          <a:lstStyle/>
          <a:p>
            <a:pPr algn="ctr">
              <a:lnSpc>
                <a:spcPts val="3430"/>
              </a:lnSpc>
              <a:spcBef>
                <a:spcPct val="0"/>
              </a:spcBef>
            </a:pPr>
            <a:r>
              <a:rPr lang="en-US" sz="2450">
                <a:solidFill>
                  <a:srgbClr val="FFFFFF"/>
                </a:solidFill>
                <a:latin typeface="Canva Sans"/>
                <a:ea typeface="Canva Sans"/>
                <a:cs typeface="Canva Sans"/>
                <a:sym typeface="Canva Sans"/>
              </a:rPr>
              <a:t>Flask</a:t>
            </a:r>
          </a:p>
        </p:txBody>
      </p:sp>
      <p:sp>
        <p:nvSpPr>
          <p:cNvPr id="17" name="TextBox 17"/>
          <p:cNvSpPr txBox="1"/>
          <p:nvPr/>
        </p:nvSpPr>
        <p:spPr>
          <a:xfrm>
            <a:off x="1028700" y="1019175"/>
            <a:ext cx="12534900" cy="961802"/>
          </a:xfrm>
          <a:prstGeom prst="rect">
            <a:avLst/>
          </a:prstGeom>
        </p:spPr>
        <p:txBody>
          <a:bodyPr wrap="square" lIns="0" tIns="0" rIns="0" bIns="0" rtlCol="0" anchor="t">
            <a:spAutoFit/>
          </a:bodyPr>
          <a:lstStyle/>
          <a:p>
            <a:pPr marL="0" lvl="0" indent="0" algn="l">
              <a:lnSpc>
                <a:spcPts val="7535"/>
              </a:lnSpc>
            </a:pPr>
            <a:r>
              <a:rPr lang="en-US" sz="6279" b="1" dirty="0">
                <a:solidFill>
                  <a:srgbClr val="FFFFFF"/>
                </a:solidFill>
                <a:latin typeface="Barlow Bold"/>
                <a:ea typeface="Barlow Bold"/>
                <a:cs typeface="Barlow Bold"/>
                <a:sym typeface="Barlow Bold"/>
              </a:rPr>
              <a:t>Application Architecture and tools:</a:t>
            </a:r>
          </a:p>
        </p:txBody>
      </p:sp>
      <p:sp>
        <p:nvSpPr>
          <p:cNvPr id="18" name="TextBox 18"/>
          <p:cNvSpPr txBox="1"/>
          <p:nvPr/>
        </p:nvSpPr>
        <p:spPr>
          <a:xfrm>
            <a:off x="16484856" y="6201147"/>
            <a:ext cx="1552142" cy="296711"/>
          </a:xfrm>
          <a:prstGeom prst="rect">
            <a:avLst/>
          </a:prstGeom>
        </p:spPr>
        <p:txBody>
          <a:bodyPr lIns="0" tIns="0" rIns="0" bIns="0" rtlCol="0" anchor="t">
            <a:spAutoFit/>
          </a:bodyPr>
          <a:lstStyle/>
          <a:p>
            <a:pPr algn="ctr">
              <a:lnSpc>
                <a:spcPts val="2241"/>
              </a:lnSpc>
              <a:spcBef>
                <a:spcPct val="0"/>
              </a:spcBef>
            </a:pPr>
            <a:r>
              <a:rPr lang="en-US" sz="2241">
                <a:solidFill>
                  <a:srgbClr val="FFFFFF"/>
                </a:solidFill>
                <a:latin typeface="Barlow"/>
                <a:ea typeface="Barlow"/>
                <a:cs typeface="Barlow"/>
                <a:sym typeface="Barlow"/>
              </a:rPr>
              <a:t>APIs for LLM</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26803" r="-12555" b="-10863"/>
            </a:stretch>
          </a:blipFill>
        </p:spPr>
        <p:txBody>
          <a:bodyPr/>
          <a:lstStyle/>
          <a:p>
            <a:endParaRPr lang="en-US"/>
          </a:p>
        </p:txBody>
      </p:sp>
      <p:sp>
        <p:nvSpPr>
          <p:cNvPr id="3" name="Freeform 3"/>
          <p:cNvSpPr/>
          <p:nvPr/>
        </p:nvSpPr>
        <p:spPr>
          <a:xfrm>
            <a:off x="3493371" y="3267710"/>
            <a:ext cx="11301259" cy="4958427"/>
          </a:xfrm>
          <a:custGeom>
            <a:avLst/>
            <a:gdLst/>
            <a:ahLst/>
            <a:cxnLst/>
            <a:rect l="l" t="t" r="r" b="b"/>
            <a:pathLst>
              <a:path w="11301259" h="4958427">
                <a:moveTo>
                  <a:pt x="0" y="0"/>
                </a:moveTo>
                <a:lnTo>
                  <a:pt x="11301258" y="0"/>
                </a:lnTo>
                <a:lnTo>
                  <a:pt x="11301258" y="4958427"/>
                </a:lnTo>
                <a:lnTo>
                  <a:pt x="0" y="495842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1143000"/>
            <a:ext cx="12386677" cy="857885"/>
          </a:xfrm>
          <a:prstGeom prst="rect">
            <a:avLst/>
          </a:prstGeom>
        </p:spPr>
        <p:txBody>
          <a:bodyPr lIns="0" tIns="0" rIns="0" bIns="0" rtlCol="0" anchor="t">
            <a:spAutoFit/>
          </a:bodyPr>
          <a:lstStyle/>
          <a:p>
            <a:pPr marL="0" lvl="0" indent="0" algn="l">
              <a:lnSpc>
                <a:spcPts val="6399"/>
              </a:lnSpc>
            </a:pPr>
            <a:r>
              <a:rPr lang="en-US" sz="6399" b="1">
                <a:solidFill>
                  <a:srgbClr val="FFFFFF"/>
                </a:solidFill>
                <a:latin typeface="Barlow Bold"/>
                <a:ea typeface="Barlow Bold"/>
                <a:cs typeface="Barlow Bold"/>
                <a:sym typeface="Barlow Bold"/>
              </a:rPr>
              <a:t>Welcome Page</a:t>
            </a:r>
          </a:p>
        </p:txBody>
      </p:sp>
      <p:sp>
        <p:nvSpPr>
          <p:cNvPr id="5" name="TextBox 5"/>
          <p:cNvSpPr txBox="1"/>
          <p:nvPr/>
        </p:nvSpPr>
        <p:spPr>
          <a:xfrm>
            <a:off x="1028700" y="2229485"/>
            <a:ext cx="15955187" cy="800100"/>
          </a:xfrm>
          <a:prstGeom prst="rect">
            <a:avLst/>
          </a:prstGeom>
        </p:spPr>
        <p:txBody>
          <a:bodyPr lIns="0" tIns="0" rIns="0" bIns="0" rtlCol="0" anchor="t">
            <a:spAutoFit/>
          </a:bodyPr>
          <a:lstStyle/>
          <a:p>
            <a:pPr algn="l">
              <a:lnSpc>
                <a:spcPts val="3000"/>
              </a:lnSpc>
              <a:spcBef>
                <a:spcPct val="0"/>
              </a:spcBef>
            </a:pPr>
            <a:r>
              <a:rPr lang="en-US" sz="3000">
                <a:solidFill>
                  <a:srgbClr val="FFFFFF"/>
                </a:solidFill>
                <a:latin typeface="Barlow"/>
                <a:ea typeface="Barlow"/>
                <a:cs typeface="Barlow"/>
                <a:sym typeface="Barlow"/>
              </a:rPr>
              <a:t>The welcoming interface provides a comforting entry point for users, emphasizing safety and support.</a:t>
            </a: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181" t="-7978" b="-150814"/>
            </a:stretch>
          </a:blipFill>
        </p:spPr>
        <p:txBody>
          <a:bodyPr/>
          <a:lstStyle/>
          <a:p>
            <a:endParaRPr lang="en-US"/>
          </a:p>
        </p:txBody>
      </p:sp>
      <p:sp>
        <p:nvSpPr>
          <p:cNvPr id="3" name="Freeform 3"/>
          <p:cNvSpPr/>
          <p:nvPr/>
        </p:nvSpPr>
        <p:spPr>
          <a:xfrm>
            <a:off x="-2163616" y="-5088036"/>
            <a:ext cx="7341489" cy="8229600"/>
          </a:xfrm>
          <a:custGeom>
            <a:avLst/>
            <a:gdLst/>
            <a:ahLst/>
            <a:cxnLst/>
            <a:rect l="l" t="t" r="r" b="b"/>
            <a:pathLst>
              <a:path w="7341489" h="8229600">
                <a:moveTo>
                  <a:pt x="0" y="0"/>
                </a:moveTo>
                <a:lnTo>
                  <a:pt x="7341489" y="0"/>
                </a:lnTo>
                <a:lnTo>
                  <a:pt x="7341489" y="8229600"/>
                </a:lnTo>
                <a:lnTo>
                  <a:pt x="0" y="8229600"/>
                </a:lnTo>
                <a:lnTo>
                  <a:pt x="0" y="0"/>
                </a:lnTo>
                <a:close/>
              </a:path>
            </a:pathLst>
          </a:custGeom>
          <a:blipFill>
            <a:blip r:embed="rId3"/>
            <a:stretch>
              <a:fillRect/>
            </a:stretch>
          </a:blipFill>
        </p:spPr>
        <p:txBody>
          <a:bodyPr/>
          <a:lstStyle/>
          <a:p>
            <a:endParaRPr lang="en-US"/>
          </a:p>
        </p:txBody>
      </p:sp>
      <p:sp>
        <p:nvSpPr>
          <p:cNvPr id="4" name="Freeform 4"/>
          <p:cNvSpPr/>
          <p:nvPr/>
        </p:nvSpPr>
        <p:spPr>
          <a:xfrm>
            <a:off x="4937975" y="6746809"/>
            <a:ext cx="7341489" cy="8229600"/>
          </a:xfrm>
          <a:custGeom>
            <a:avLst/>
            <a:gdLst/>
            <a:ahLst/>
            <a:cxnLst/>
            <a:rect l="l" t="t" r="r" b="b"/>
            <a:pathLst>
              <a:path w="7341489" h="8229600">
                <a:moveTo>
                  <a:pt x="0" y="0"/>
                </a:moveTo>
                <a:lnTo>
                  <a:pt x="7341489" y="0"/>
                </a:lnTo>
                <a:lnTo>
                  <a:pt x="7341489" y="8229600"/>
                </a:lnTo>
                <a:lnTo>
                  <a:pt x="0" y="8229600"/>
                </a:lnTo>
                <a:lnTo>
                  <a:pt x="0" y="0"/>
                </a:lnTo>
                <a:close/>
              </a:path>
            </a:pathLst>
          </a:custGeom>
          <a:blipFill>
            <a:blip r:embed="rId3"/>
            <a:stretch>
              <a:fillRect/>
            </a:stretch>
          </a:blipFill>
        </p:spPr>
        <p:txBody>
          <a:bodyPr/>
          <a:lstStyle/>
          <a:p>
            <a:endParaRPr lang="en-US"/>
          </a:p>
        </p:txBody>
      </p:sp>
      <p:sp>
        <p:nvSpPr>
          <p:cNvPr id="5" name="Freeform 5"/>
          <p:cNvSpPr/>
          <p:nvPr/>
        </p:nvSpPr>
        <p:spPr>
          <a:xfrm>
            <a:off x="3493371" y="3789080"/>
            <a:ext cx="11301259" cy="5071440"/>
          </a:xfrm>
          <a:custGeom>
            <a:avLst/>
            <a:gdLst/>
            <a:ahLst/>
            <a:cxnLst/>
            <a:rect l="l" t="t" r="r" b="b"/>
            <a:pathLst>
              <a:path w="11301259" h="5071440">
                <a:moveTo>
                  <a:pt x="0" y="0"/>
                </a:moveTo>
                <a:lnTo>
                  <a:pt x="11301258" y="0"/>
                </a:lnTo>
                <a:lnTo>
                  <a:pt x="11301258" y="5071440"/>
                </a:lnTo>
                <a:lnTo>
                  <a:pt x="0" y="5071440"/>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1028700" y="1143000"/>
            <a:ext cx="12386677" cy="857885"/>
          </a:xfrm>
          <a:prstGeom prst="rect">
            <a:avLst/>
          </a:prstGeom>
        </p:spPr>
        <p:txBody>
          <a:bodyPr lIns="0" tIns="0" rIns="0" bIns="0" rtlCol="0" anchor="t">
            <a:spAutoFit/>
          </a:bodyPr>
          <a:lstStyle/>
          <a:p>
            <a:pPr marL="0" lvl="0" indent="0" algn="l">
              <a:lnSpc>
                <a:spcPts val="6399"/>
              </a:lnSpc>
            </a:pPr>
            <a:r>
              <a:rPr lang="en-US" sz="6399" b="1">
                <a:solidFill>
                  <a:srgbClr val="FFFFFF"/>
                </a:solidFill>
                <a:latin typeface="Barlow Bold"/>
                <a:ea typeface="Barlow Bold"/>
                <a:cs typeface="Barlow Bold"/>
                <a:sym typeface="Barlow Bold"/>
              </a:rPr>
              <a:t>Chat Interface:</a:t>
            </a:r>
          </a:p>
        </p:txBody>
      </p:sp>
      <p:sp>
        <p:nvSpPr>
          <p:cNvPr id="7" name="TextBox 7"/>
          <p:cNvSpPr txBox="1"/>
          <p:nvPr/>
        </p:nvSpPr>
        <p:spPr>
          <a:xfrm>
            <a:off x="1028700" y="2188043"/>
            <a:ext cx="16230600" cy="800100"/>
          </a:xfrm>
          <a:prstGeom prst="rect">
            <a:avLst/>
          </a:prstGeom>
        </p:spPr>
        <p:txBody>
          <a:bodyPr lIns="0" tIns="0" rIns="0" bIns="0" rtlCol="0" anchor="t">
            <a:spAutoFit/>
          </a:bodyPr>
          <a:lstStyle/>
          <a:p>
            <a:pPr algn="l">
              <a:lnSpc>
                <a:spcPts val="3000"/>
              </a:lnSpc>
              <a:spcBef>
                <a:spcPct val="0"/>
              </a:spcBef>
            </a:pPr>
            <a:r>
              <a:rPr lang="en-US" sz="3000">
                <a:solidFill>
                  <a:srgbClr val="FFFFFF"/>
                </a:solidFill>
                <a:latin typeface="Barlow"/>
                <a:ea typeface="Barlow"/>
                <a:cs typeface="Barlow"/>
                <a:sym typeface="Barlow"/>
              </a:rPr>
              <a:t>The real-time chat interface enables users to share their emotions and receive empathetic responses in a simple and intuitive design.</a:t>
            </a: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26803" r="-12555" b="-10863"/>
            </a:stretch>
          </a:blipFill>
        </p:spPr>
        <p:txBody>
          <a:bodyPr/>
          <a:lstStyle/>
          <a:p>
            <a:endParaRPr lang="en-US"/>
          </a:p>
        </p:txBody>
      </p:sp>
      <p:sp>
        <p:nvSpPr>
          <p:cNvPr id="3" name="Freeform 3"/>
          <p:cNvSpPr/>
          <p:nvPr/>
        </p:nvSpPr>
        <p:spPr>
          <a:xfrm>
            <a:off x="8386416" y="-4696518"/>
            <a:ext cx="8872884" cy="8229600"/>
          </a:xfrm>
          <a:custGeom>
            <a:avLst/>
            <a:gdLst/>
            <a:ahLst/>
            <a:cxnLst/>
            <a:rect l="l" t="t" r="r" b="b"/>
            <a:pathLst>
              <a:path w="8872884" h="8229600">
                <a:moveTo>
                  <a:pt x="0" y="0"/>
                </a:moveTo>
                <a:lnTo>
                  <a:pt x="8872884" y="0"/>
                </a:lnTo>
                <a:lnTo>
                  <a:pt x="8872884" y="8229600"/>
                </a:lnTo>
                <a:lnTo>
                  <a:pt x="0" y="8229600"/>
                </a:lnTo>
                <a:lnTo>
                  <a:pt x="0" y="0"/>
                </a:lnTo>
                <a:close/>
              </a:path>
            </a:pathLst>
          </a:custGeom>
          <a:blipFill>
            <a:blip r:embed="rId3"/>
            <a:stretch>
              <a:fillRect/>
            </a:stretch>
          </a:blipFill>
        </p:spPr>
        <p:txBody>
          <a:bodyPr/>
          <a:lstStyle/>
          <a:p>
            <a:endParaRPr lang="en-US"/>
          </a:p>
        </p:txBody>
      </p:sp>
      <p:sp>
        <p:nvSpPr>
          <p:cNvPr id="4" name="Freeform 4"/>
          <p:cNvSpPr/>
          <p:nvPr/>
        </p:nvSpPr>
        <p:spPr>
          <a:xfrm>
            <a:off x="3645873" y="6820705"/>
            <a:ext cx="8872884" cy="8229600"/>
          </a:xfrm>
          <a:custGeom>
            <a:avLst/>
            <a:gdLst/>
            <a:ahLst/>
            <a:cxnLst/>
            <a:rect l="l" t="t" r="r" b="b"/>
            <a:pathLst>
              <a:path w="8872884" h="8229600">
                <a:moveTo>
                  <a:pt x="0" y="0"/>
                </a:moveTo>
                <a:lnTo>
                  <a:pt x="8872884" y="0"/>
                </a:lnTo>
                <a:lnTo>
                  <a:pt x="8872884" y="8229600"/>
                </a:lnTo>
                <a:lnTo>
                  <a:pt x="0" y="8229600"/>
                </a:lnTo>
                <a:lnTo>
                  <a:pt x="0" y="0"/>
                </a:lnTo>
                <a:close/>
              </a:path>
            </a:pathLst>
          </a:custGeom>
          <a:blipFill>
            <a:blip r:embed="rId3"/>
            <a:stretch>
              <a:fillRect/>
            </a:stretch>
          </a:blipFill>
        </p:spPr>
        <p:txBody>
          <a:bodyPr/>
          <a:lstStyle/>
          <a:p>
            <a:endParaRPr lang="en-US"/>
          </a:p>
        </p:txBody>
      </p:sp>
      <p:sp>
        <p:nvSpPr>
          <p:cNvPr id="5" name="Freeform 5"/>
          <p:cNvSpPr/>
          <p:nvPr/>
        </p:nvSpPr>
        <p:spPr>
          <a:xfrm rot="-227227" flipH="1">
            <a:off x="1163879" y="1874813"/>
            <a:ext cx="7772712" cy="6537374"/>
          </a:xfrm>
          <a:custGeom>
            <a:avLst/>
            <a:gdLst/>
            <a:ahLst/>
            <a:cxnLst/>
            <a:rect l="l" t="t" r="r" b="b"/>
            <a:pathLst>
              <a:path w="7772712" h="6537374">
                <a:moveTo>
                  <a:pt x="7772712" y="0"/>
                </a:moveTo>
                <a:lnTo>
                  <a:pt x="0" y="0"/>
                </a:lnTo>
                <a:lnTo>
                  <a:pt x="0" y="6537374"/>
                </a:lnTo>
                <a:lnTo>
                  <a:pt x="7772712" y="6537374"/>
                </a:lnTo>
                <a:lnTo>
                  <a:pt x="7772712" y="0"/>
                </a:lnTo>
                <a:close/>
              </a:path>
            </a:pathLst>
          </a:custGeom>
          <a:blipFill>
            <a:blip r:embed="rId4"/>
            <a:stretch>
              <a:fillRect/>
            </a:stretch>
          </a:blipFill>
        </p:spPr>
        <p:txBody>
          <a:bodyPr/>
          <a:lstStyle/>
          <a:p>
            <a:endParaRPr lang="en-US"/>
          </a:p>
        </p:txBody>
      </p:sp>
      <p:sp>
        <p:nvSpPr>
          <p:cNvPr id="6" name="TextBox 6"/>
          <p:cNvSpPr txBox="1"/>
          <p:nvPr/>
        </p:nvSpPr>
        <p:spPr>
          <a:xfrm>
            <a:off x="9752712" y="3118745"/>
            <a:ext cx="5532090" cy="1057274"/>
          </a:xfrm>
          <a:prstGeom prst="rect">
            <a:avLst/>
          </a:prstGeom>
        </p:spPr>
        <p:txBody>
          <a:bodyPr lIns="0" tIns="0" rIns="0" bIns="0" rtlCol="0" anchor="t">
            <a:spAutoFit/>
          </a:bodyPr>
          <a:lstStyle/>
          <a:p>
            <a:pPr marL="0" lvl="0" indent="0" algn="l">
              <a:lnSpc>
                <a:spcPts val="7649"/>
              </a:lnSpc>
              <a:spcBef>
                <a:spcPct val="0"/>
              </a:spcBef>
            </a:pPr>
            <a:r>
              <a:rPr lang="en-US" sz="8499" b="1" u="none" strike="noStrike">
                <a:solidFill>
                  <a:srgbClr val="FFFFFF"/>
                </a:solidFill>
                <a:latin typeface="Barlow Bold"/>
                <a:ea typeface="Barlow Bold"/>
                <a:cs typeface="Barlow Bold"/>
                <a:sym typeface="Barlow Bold"/>
              </a:rPr>
              <a:t>Conclusion</a:t>
            </a:r>
          </a:p>
        </p:txBody>
      </p:sp>
      <p:sp>
        <p:nvSpPr>
          <p:cNvPr id="7" name="TextBox 7"/>
          <p:cNvSpPr txBox="1"/>
          <p:nvPr/>
        </p:nvSpPr>
        <p:spPr>
          <a:xfrm>
            <a:off x="9752712" y="4405370"/>
            <a:ext cx="7686020" cy="4453255"/>
          </a:xfrm>
          <a:prstGeom prst="rect">
            <a:avLst/>
          </a:prstGeom>
        </p:spPr>
        <p:txBody>
          <a:bodyPr lIns="0" tIns="0" rIns="0" bIns="0" rtlCol="0" anchor="t">
            <a:spAutoFit/>
          </a:bodyPr>
          <a:lstStyle/>
          <a:p>
            <a:pPr algn="l">
              <a:lnSpc>
                <a:spcPts val="3919"/>
              </a:lnSpc>
            </a:pPr>
            <a:r>
              <a:rPr lang="en-US" sz="2799" spc="11">
                <a:solidFill>
                  <a:srgbClr val="FFFFFF"/>
                </a:solidFill>
                <a:latin typeface="Barlow"/>
                <a:ea typeface="Barlow"/>
                <a:cs typeface="Barlow"/>
                <a:sym typeface="Barlow"/>
              </a:rPr>
              <a:t>This project demonstrates the potential of AI in providing personalized emotional support through advanced technologies. Future work will focus on enhancing the knowledge base and refining AI models to ensure more effective and empathetic interactions with users.</a:t>
            </a:r>
          </a:p>
          <a:p>
            <a:pPr algn="l">
              <a:lnSpc>
                <a:spcPts val="3919"/>
              </a:lnSpc>
            </a:pPr>
            <a:endParaRPr lang="en-US" sz="2799" spc="11">
              <a:solidFill>
                <a:srgbClr val="FFFFFF"/>
              </a:solidFill>
              <a:latin typeface="Barlow"/>
              <a:ea typeface="Barlow"/>
              <a:cs typeface="Barlow"/>
              <a:sym typeface="Barlow"/>
            </a:endParaRPr>
          </a:p>
          <a:p>
            <a:pPr algn="l">
              <a:lnSpc>
                <a:spcPts val="3919"/>
              </a:lnSpc>
            </a:pPr>
            <a:endParaRPr lang="en-US" sz="2799" spc="11">
              <a:solidFill>
                <a:srgbClr val="FFFFFF"/>
              </a:solidFill>
              <a:latin typeface="Barlow"/>
              <a:ea typeface="Barlow"/>
              <a:cs typeface="Barlow"/>
              <a:sym typeface="Barlow"/>
            </a:endParaRPr>
          </a:p>
          <a:p>
            <a:pPr marL="0" lvl="0" indent="0" algn="l">
              <a:lnSpc>
                <a:spcPts val="3919"/>
              </a:lnSpc>
            </a:pPr>
            <a:endParaRPr lang="en-US" sz="2799" spc="11">
              <a:solidFill>
                <a:srgbClr val="FFFFFF"/>
              </a:solidFill>
              <a:latin typeface="Barlow"/>
              <a:ea typeface="Barlow"/>
              <a:cs typeface="Barlow"/>
              <a:sym typeface="Barlow"/>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0924" t="-82651" r="-2995"/>
            </a:stretch>
          </a:blipFill>
        </p:spPr>
        <p:txBody>
          <a:bodyPr/>
          <a:lstStyle/>
          <a:p>
            <a:endParaRPr lang="en-US"/>
          </a:p>
        </p:txBody>
      </p:sp>
      <p:sp>
        <p:nvSpPr>
          <p:cNvPr id="3" name="Freeform 3"/>
          <p:cNvSpPr/>
          <p:nvPr/>
        </p:nvSpPr>
        <p:spPr>
          <a:xfrm flipH="1" flipV="1">
            <a:off x="13588556" y="-4114800"/>
            <a:ext cx="7341489" cy="8229600"/>
          </a:xfrm>
          <a:custGeom>
            <a:avLst/>
            <a:gdLst/>
            <a:ahLst/>
            <a:cxnLst/>
            <a:rect l="l" t="t" r="r" b="b"/>
            <a:pathLst>
              <a:path w="7341489" h="8229600">
                <a:moveTo>
                  <a:pt x="7341488" y="8229600"/>
                </a:moveTo>
                <a:lnTo>
                  <a:pt x="0" y="8229600"/>
                </a:lnTo>
                <a:lnTo>
                  <a:pt x="0" y="0"/>
                </a:lnTo>
                <a:lnTo>
                  <a:pt x="7341488" y="0"/>
                </a:lnTo>
                <a:lnTo>
                  <a:pt x="7341488" y="8229600"/>
                </a:lnTo>
                <a:close/>
              </a:path>
            </a:pathLst>
          </a:custGeom>
          <a:blipFill>
            <a:blip r:embed="rId3"/>
            <a:stretch>
              <a:fillRect/>
            </a:stretch>
          </a:blipFill>
        </p:spPr>
        <p:txBody>
          <a:bodyPr/>
          <a:lstStyle/>
          <a:p>
            <a:endParaRPr lang="en-US"/>
          </a:p>
        </p:txBody>
      </p:sp>
      <p:sp>
        <p:nvSpPr>
          <p:cNvPr id="4" name="TextBox 4"/>
          <p:cNvSpPr txBox="1"/>
          <p:nvPr/>
        </p:nvSpPr>
        <p:spPr>
          <a:xfrm>
            <a:off x="1028700" y="3867150"/>
            <a:ext cx="7490425" cy="2108176"/>
          </a:xfrm>
          <a:prstGeom prst="rect">
            <a:avLst/>
          </a:prstGeom>
        </p:spPr>
        <p:txBody>
          <a:bodyPr lIns="0" tIns="0" rIns="0" bIns="0" rtlCol="0" anchor="t">
            <a:spAutoFit/>
          </a:bodyPr>
          <a:lstStyle/>
          <a:p>
            <a:pPr marL="0" lvl="0" indent="0" algn="l">
              <a:lnSpc>
                <a:spcPts val="17215"/>
              </a:lnSpc>
              <a:spcBef>
                <a:spcPct val="0"/>
              </a:spcBef>
            </a:pPr>
            <a:r>
              <a:rPr lang="en-US" sz="12296" b="1">
                <a:solidFill>
                  <a:srgbClr val="FFFFFF"/>
                </a:solidFill>
                <a:latin typeface="Barlow Bold"/>
                <a:ea typeface="Barlow Bold"/>
                <a:cs typeface="Barlow Bold"/>
                <a:sym typeface="Barlow Bold"/>
              </a:rPr>
              <a:t>Thank You</a:t>
            </a:r>
          </a:p>
        </p:txBody>
      </p:sp>
      <p:sp>
        <p:nvSpPr>
          <p:cNvPr id="5" name="TextBox 5"/>
          <p:cNvSpPr txBox="1"/>
          <p:nvPr/>
        </p:nvSpPr>
        <p:spPr>
          <a:xfrm>
            <a:off x="2612571" y="5908651"/>
            <a:ext cx="4322683" cy="580390"/>
          </a:xfrm>
          <a:prstGeom prst="rect">
            <a:avLst/>
          </a:prstGeom>
        </p:spPr>
        <p:txBody>
          <a:bodyPr lIns="0" tIns="0" rIns="0" bIns="0" rtlCol="0" anchor="t">
            <a:spAutoFit/>
          </a:bodyPr>
          <a:lstStyle/>
          <a:p>
            <a:pPr algn="ctr">
              <a:lnSpc>
                <a:spcPts val="4759"/>
              </a:lnSpc>
              <a:spcBef>
                <a:spcPct val="0"/>
              </a:spcBef>
            </a:pPr>
            <a:r>
              <a:rPr lang="en-US" sz="3399" b="1">
                <a:solidFill>
                  <a:srgbClr val="FFFFFF"/>
                </a:solidFill>
                <a:latin typeface="Playpen Sans Bold"/>
                <a:ea typeface="Playpen Sans Bold"/>
                <a:cs typeface="Playpen Sans Bold"/>
                <a:sym typeface="Playpen Sans Bold"/>
              </a:rPr>
              <a:t>For Your Attention!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344</TotalTime>
  <Words>166</Words>
  <Application>Microsoft Office PowerPoint</Application>
  <PresentationFormat>Custom</PresentationFormat>
  <Paragraphs>20</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Barlow Bold</vt:lpstr>
      <vt:lpstr>Calibri</vt:lpstr>
      <vt:lpstr>Playpen Sans Bold</vt:lpstr>
      <vt:lpstr>Barlow</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and Blue Gradient Artificial Intelligence Presentation</dc:title>
  <cp:lastModifiedBy>Houssam LAQSIR</cp:lastModifiedBy>
  <cp:revision>6</cp:revision>
  <dcterms:created xsi:type="dcterms:W3CDTF">2006-08-16T00:00:00Z</dcterms:created>
  <dcterms:modified xsi:type="dcterms:W3CDTF">2025-01-15T14:42:44Z</dcterms:modified>
  <dc:identifier>DAGcMabBJEU</dc:identifier>
</cp:coreProperties>
</file>